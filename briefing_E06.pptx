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本頁結論：</a:t>
            </a:r>
          </a:p>
          <a:p>
            <a:r>
              <a:t>歡迎進入 E06 參與者 10 分鐘精華導讀簡報。</a:t>
            </a:r>
          </a:p>
          <a:p/>
          <a:p>
            <a:r>
              <a:t>② 補充說明：</a:t>
            </a:r>
          </a:p>
          <a:p>
            <a:r>
              <a:t>本模組精準解構 參與者 的底層規律與實戰工具，幫助你在不確定世界中做出高質量決策與行動。</a:t>
            </a:r>
          </a:p>
          <a:p/>
          <a:p>
            <a:r>
              <a:t>③ 下一頁轉場：</a:t>
            </a:r>
          </a:p>
          <a:p>
            <a:r>
              <a:t>首先透過模組骨架圖，縱覽本板塊的核心推演邏輯。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本頁結論：</a:t>
            </a:r>
          </a:p>
          <a:p>
            <a:r>
              <a:t>E06 參與者 構建了嚴謹的理論與實踐閉環。</a:t>
            </a:r>
          </a:p>
          <a:p/>
          <a:p>
            <a:r>
              <a:t>② 補充說明：</a:t>
            </a:r>
          </a:p>
          <a:p>
            <a:r>
              <a:t>從底層公理出發，層層推進到行為與系統層面，提供清晰的思考導航。</a:t>
            </a:r>
          </a:p>
          <a:p/>
          <a:p>
            <a:r>
              <a:t>③ 下一頁轉場：</a:t>
            </a:r>
          </a:p>
          <a:p>
            <a:r>
              <a:t>現在讓我們逐一深入探討各講的核心突破口。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本頁結論：</a:t>
            </a:r>
          </a:p>
          <a:p>
            <a:r>
              <a:t>【070 聲望與支配】的核心在於用機制代替道德，用結構化工具引導行為。</a:t>
            </a:r>
          </a:p>
          <a:p/>
          <a:p>
            <a:r>
              <a:t>② 補充說明：</a:t>
            </a:r>
          </a:p>
          <a:p>
            <a:r>
              <a:t>當我們看清了系統的約束與目標函數，原本看似無解的衝突往往能迎刃而解。</a:t>
            </a:r>
          </a:p>
          <a:p/>
          <a:p>
            <a:r>
              <a:t>③ 下一頁轉場：</a:t>
            </a:r>
          </a:p>
          <a:p>
            <a:r>
              <a:t>接下來深入下一階段的工具推演。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本頁結論：</a:t>
            </a:r>
          </a:p>
          <a:p>
            <a:r>
              <a:t>【072 訊號理論】的核心在於用機制代替道德，用結構化工具引導行為。</a:t>
            </a:r>
          </a:p>
          <a:p/>
          <a:p>
            <a:r>
              <a:t>② 補充說明：</a:t>
            </a:r>
          </a:p>
          <a:p>
            <a:r>
              <a:t>當我們看清了系統的約束與目標函數，原本看似無解的衝突往往能迎刃而解。</a:t>
            </a:r>
          </a:p>
          <a:p/>
          <a:p>
            <a:r>
              <a:t>③ 下一頁轉場：</a:t>
            </a:r>
          </a:p>
          <a:p>
            <a:r>
              <a:t>接下來深入下一階段的工具推演。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本頁結論：</a:t>
            </a:r>
          </a:p>
          <a:p>
            <a:r>
              <a:t>【074 重複博弈與以牙還牙】的核心在於用機制代替道德，用結構化工具引導行為。</a:t>
            </a:r>
          </a:p>
          <a:p/>
          <a:p>
            <a:r>
              <a:t>② 補充說明：</a:t>
            </a:r>
          </a:p>
          <a:p>
            <a:r>
              <a:t>當我們看清了系統的約束與目標函數，原本看似無解的衝突往往能迎刃而解。</a:t>
            </a:r>
          </a:p>
          <a:p/>
          <a:p>
            <a:r>
              <a:t>③ 下一頁轉場：</a:t>
            </a:r>
          </a:p>
          <a:p>
            <a:r>
              <a:t>接下來深入下一階段的工具推演。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本頁結論：</a:t>
            </a:r>
          </a:p>
          <a:p>
            <a:r>
              <a:t>【076 討價還價與外部選項】的核心在於用機制代替道德，用結構化工具引導行為。</a:t>
            </a:r>
          </a:p>
          <a:p/>
          <a:p>
            <a:r>
              <a:t>② 補充說明：</a:t>
            </a:r>
          </a:p>
          <a:p>
            <a:r>
              <a:t>當我們看清了系統的約束與目標函數，原本看似無解的衝突往往能迎刃而解。</a:t>
            </a:r>
          </a:p>
          <a:p/>
          <a:p>
            <a:r>
              <a:t>③ 下一頁轉場：</a:t>
            </a:r>
          </a:p>
          <a:p>
            <a:r>
              <a:t>接下來深入下一階段的工具推演。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本頁結論：</a:t>
            </a:r>
          </a:p>
          <a:p>
            <a:r>
              <a:t>【080 互惠與群體選擇】的核心在於用機制代替道德，用結構化工具引導行為。</a:t>
            </a:r>
          </a:p>
          <a:p/>
          <a:p>
            <a:r>
              <a:t>② 補充說明：</a:t>
            </a:r>
          </a:p>
          <a:p>
            <a:r>
              <a:t>當我們看清了系統的約束與目標函數，原本看似無解的衝突往往能迎刃而解。</a:t>
            </a:r>
          </a:p>
          <a:p/>
          <a:p>
            <a:r>
              <a:t>③ 下一頁轉場：</a:t>
            </a:r>
          </a:p>
          <a:p>
            <a:r>
              <a:t>接下來深入下一階段的工具推演。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本頁結論：</a:t>
            </a:r>
          </a:p>
          <a:p>
            <a:r>
              <a:t>【082 聯盟結構與圈子】的核心在於用機制代替道德，用結構化工具引導行為。</a:t>
            </a:r>
          </a:p>
          <a:p/>
          <a:p>
            <a:r>
              <a:t>② 補充說明：</a:t>
            </a:r>
          </a:p>
          <a:p>
            <a:r>
              <a:t>當我們看清了系統的約束與目標函數，原本看似無解的衝突往往能迎刃而解。</a:t>
            </a:r>
          </a:p>
          <a:p/>
          <a:p>
            <a:r>
              <a:t>③ 下一頁轉場：</a:t>
            </a:r>
          </a:p>
          <a:p>
            <a:r>
              <a:t>接下來深入下一階段的工具推演。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本頁結論：</a:t>
            </a:r>
          </a:p>
          <a:p>
            <a:r>
              <a:t>【086 第三物協作】的核心在於用機制代替道德，用結構化工具引導行為。</a:t>
            </a:r>
          </a:p>
          <a:p/>
          <a:p>
            <a:r>
              <a:t>② 補充說明：</a:t>
            </a:r>
          </a:p>
          <a:p>
            <a:r>
              <a:t>當我們看清了系統的約束與目標函數，原本看似無解的衝突往往能迎刃而解。</a:t>
            </a:r>
          </a:p>
          <a:p/>
          <a:p>
            <a:r>
              <a:t>③ 下一頁轉場：</a:t>
            </a:r>
          </a:p>
          <a:p>
            <a:r>
              <a:t>接下來深入下一階段的工具推演。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本頁結論：</a:t>
            </a:r>
          </a:p>
          <a:p>
            <a:r>
              <a:t>E06 各講之間具有強烈的因果承接關係。</a:t>
            </a:r>
          </a:p>
          <a:p/>
          <a:p>
            <a:r>
              <a:t>② 補充說明：</a:t>
            </a:r>
          </a:p>
          <a:p>
            <a:r>
              <a:t>每一講都解決了上一講留下的未竟之問，構成階梯式的認知躍遷。</a:t>
            </a:r>
          </a:p>
          <a:p/>
          <a:p>
            <a:r>
              <a:t>③ 下一頁轉場：</a:t>
            </a:r>
          </a:p>
          <a:p>
            <a:r>
              <a:t>接下來回顧模組總結與今日立即可落地的行動指針。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本頁結論：</a:t>
            </a:r>
          </a:p>
          <a:p>
            <a:r>
              <a:t>參與者 的認知唯有在真實行動中才能轉化為個人資產。</a:t>
            </a:r>
          </a:p>
          <a:p/>
          <a:p>
            <a:r>
              <a:t>② 補充說明：</a:t>
            </a:r>
          </a:p>
          <a:p>
            <a:r>
              <a:t>透過右側的評估清單，找出自身阻力最大的環節，精準突破。</a:t>
            </a:r>
          </a:p>
          <a:p/>
          <a:p>
            <a:r>
              <a:t>③ 下一頁轉場：</a:t>
            </a:r>
          </a:p>
          <a:p>
            <a:r>
              <a:t>最後為本模組的延伸深挖指南與路標導引。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① 本頁結論：</a:t>
            </a:r>
          </a:p>
          <a:p>
            <a:r>
              <a:t>E06 參與者 導讀圓滿完成！</a:t>
            </a:r>
          </a:p>
          <a:p/>
          <a:p>
            <a:r>
              <a:t>② 補充說明：</a:t>
            </a:r>
          </a:p>
          <a:p>
            <a:r>
              <a:t>感謝聆聽！歡迎在入口網站或投影片播放器中深入研讀每一講的細節。</a:t>
            </a:r>
          </a:p>
          <a:p/>
          <a:p>
            <a:r>
              <a:t>③ 下一頁轉場：</a:t>
            </a:r>
          </a:p>
          <a:p>
            <a:r>
              <a:t>期待繼續探索下一模組！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0" y="1005840"/>
            <a:ext cx="1097280" cy="73152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188720"/>
            <a:ext cx="9966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D97706"/>
                </a:solidFill>
              </a:defRPr>
            </a:pPr>
            <a:r>
              <a:t>E06 參與者 · 10 分鐘精華導讀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37360"/>
            <a:ext cx="9966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E06 參與者：10 分鐘掌握核心框架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01752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93C5FD"/>
                </a:solidFill>
              </a:defRPr>
            </a:pPr>
            <a:r>
              <a:t>涵蓋 第 070–086 講 · 萬維鋼思維工具深度提煉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3749039"/>
            <a:ext cx="9966960" cy="1645920"/>
          </a:xfrm>
          <a:prstGeom prst="roundRect">
            <a:avLst/>
          </a:prstGeom>
          <a:solidFill>
            <a:srgbClr val="0F2341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80160" y="3886200"/>
            <a:ext cx="9601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D97706"/>
                </a:solidFill>
              </a:defRPr>
            </a:pPr>
            <a:r>
              <a:t>💡 模組一句話核心主張（解決什麼問題）：</a:t>
            </a:r>
          </a:p>
          <a:p>
            <a:pPr>
              <a:defRPr sz="1450">
                <a:solidFill>
                  <a:srgbClr val="FFFFFF"/>
                </a:solidFill>
              </a:defRPr>
            </a:pPr>
            <a:r>
              <a:t>社交競爭不是暴力支配而是聲望貢獻；以代價高昂的難偽造信號傳遞信任，在重複博弈中堅持以牙還牙，圍繞『第三物』建立無需共識的高效合作。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5715000"/>
            <a:ext cx="9966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</a:defRPr>
            </a:pPr>
            <a:r>
              <a:t>作者：萬維鋼   |   規格：12 頁麥肯錫顧問標準   |   節奏：10 分鐘掌握全模組精華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模組架構圖   |   PAGE 2/12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A192F"/>
                </a:solidFill>
              </a:defRPr>
            </a:pPr>
            <a:r>
              <a:t>【模組骨架】參與者核心邏輯架構與工具映射矩陣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914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38528"/>
            <a:ext cx="4663440" cy="416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核心命題與出發點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覆蓋 第 070–086 講，解決傳統直覺認知漏洞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建立立體多維度分析框架，拒絕單一線性思維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將複雜理論轉化為高可操作性的決策工具</a:t>
            </a:r>
          </a:p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模組支柱與落地目標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第一階段：確立底層元規則與物理邊界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第二階段：調用關鍵模型完成認知壓縮與對齊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第三階段：建立動態迭代與風險防護機制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26480" y="2057400"/>
          <a:ext cx="5333695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3423"/>
                <a:gridCol w="1333423"/>
                <a:gridCol w="1333423"/>
                <a:gridCol w="1333426"/>
              </a:tblGrid>
              <a:tr h="832104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支柱階段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核心課題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思維工具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產出結果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認知出發點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聲望與支配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底層博弈模型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打破前現代舊直覺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核心工具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訊號理論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高維機制設計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降低摩擦與信任成本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系統防護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重複博弈與以牙還牙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動態反饋防線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避免指標異化與系統性風險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落地躍遷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討價還價與外部選項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生態卡位閉環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在複雜系統中持續演化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126480" y="1691640"/>
            <a:ext cx="53336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📊 參與者 核心支柱推演表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第 070 講重點   |   PAGE 3/12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A192F"/>
                </a:solidFill>
              </a:defRPr>
            </a:pPr>
            <a:r>
              <a:t>【070 聲望與支配】超越表面局限，調用結構化工具實現高維破局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914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38528"/>
            <a:ext cx="4663440" cy="416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要解決的問題與核心論點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傳統前現代直覺在【聲望與支配】問題上存在嚴重的局部盲區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現代複雜社會的分工與博弈，要求我們跳出單點道德評判，審視底層機制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透過精確的系統模型，將原本不可解的難題轉化為可操作的設計課題</a:t>
            </a:r>
          </a:p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三大關鍵顛覆亮點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關鍵亮點 1：洞悉系統中的非對稱激勵結構，精準定位真實控制權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關鍵亮點 2：避免將制度性問題歸咎於個人品德，靠制度與契約防範道德風險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關鍵亮點 3：在動態多方博弈中建立不可偽造的高價值信號，搶佔合作生態位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26480" y="2057400"/>
          <a:ext cx="5333695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898"/>
                <a:gridCol w="1777898"/>
                <a:gridCol w="1777899"/>
              </a:tblGrid>
              <a:tr h="832104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分析維度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傳統直覺思維 (被動陷入內耗)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現代工具模型 (主動結構破局)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出發視角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站在個人道德與情緒角度評判對錯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站在博弈結構與激勵相容角度審視機制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應對策略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企圖透過說教或壓制改變他人行為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調整反饋回路、改變 payoff 矩陣與信息結構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系統風險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容易遭遇指標異化、信任崩潰或暗箱背叛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具備透明規則、防脆弱冗餘與動態退出機制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長遠產出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在低水準內耗中互相消耗出局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構建正和博弈網絡，享受非線性複利紅利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126480" y="1691640"/>
            <a:ext cx="53336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📊 聲望與支配 傳統舊思維 vs 現代工具模型對比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第 072 講重點   |   PAGE 4/12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A192F"/>
                </a:solidFill>
              </a:defRPr>
            </a:pPr>
            <a:r>
              <a:t>【072 訊號理論】超越表面局限，調用結構化工具實現高維破局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914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38528"/>
            <a:ext cx="4663440" cy="416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要解決的問題與核心論點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傳統前現代直覺在【訊號理論】問題上存在嚴重的局部盲區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現代複雜社會的分工與博弈，要求我們跳出單點道德評判，審視底層機制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透過精確的系統模型，將原本不可解的難題轉化為可操作的設計課題</a:t>
            </a:r>
          </a:p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三大關鍵顛覆亮點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關鍵亮點 1：洞悉系統中的非對稱激勵結構，精準定位真實控制權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關鍵亮點 2：避免將制度性問題歸咎於個人品德，靠制度與契約防範道德風險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關鍵亮點 3：在動態多方博弈中建立不可偽造的高價值信號，搶佔合作生態位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26480" y="2057400"/>
          <a:ext cx="5333695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898"/>
                <a:gridCol w="1777898"/>
                <a:gridCol w="1777899"/>
              </a:tblGrid>
              <a:tr h="832104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分析維度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傳統直覺思維 (被動陷入內耗)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現代工具模型 (主動結構破局)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出發視角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站在個人道德與情緒角度評判對錯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站在博弈結構與激勵相容角度審視機制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應對策略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企圖透過說教或壓制改變他人行為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調整反饋回路、改變 payoff 矩陣與信息結構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系統風險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容易遭遇指標異化、信任崩潰或暗箱背叛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具備透明規則、防脆弱冗餘與動態退出機制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長遠產出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在低水準內耗中互相消耗出局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構建正和博弈網絡，享受非線性複利紅利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126480" y="1691640"/>
            <a:ext cx="53336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📊 訊號理論 傳統舊思維 vs 現代工具模型對比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第 074 講重點   |   PAGE 5/12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A192F"/>
                </a:solidFill>
              </a:defRPr>
            </a:pPr>
            <a:r>
              <a:t>【074 重複博弈與以牙還牙】超越表面局限，調用結構化工具實現高維破局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914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38528"/>
            <a:ext cx="4663440" cy="416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要解決的問題與核心論點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傳統前現代直覺在【重複博弈與以牙還牙】問題上存在嚴重的局部盲區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現代複雜社會的分工與博弈，要求我們跳出單點道德評判，審視底層機制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透過精確的系統模型，將原本不可解的難題轉化為可操作的設計課題</a:t>
            </a:r>
          </a:p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三大關鍵顛覆亮點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關鍵亮點 1：洞悉系統中的非對稱激勵結構，精準定位真實控制權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關鍵亮點 2：避免將制度性問題歸咎於個人品德，靠制度與契約防範道德風險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關鍵亮點 3：在動態多方博弈中建立不可偽造的高價值信號，搶佔合作生態位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26480" y="2057400"/>
          <a:ext cx="5333695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898"/>
                <a:gridCol w="1777898"/>
                <a:gridCol w="1777899"/>
              </a:tblGrid>
              <a:tr h="832104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分析維度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傳統直覺思維 (被動陷入內耗)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現代工具模型 (主動結構破局)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出發視角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站在個人道德與情緒角度評判對錯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站在博弈結構與激勵相容角度審視機制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應對策略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企圖透過說教或壓制改變他人行為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調整反饋回路、改變 payoff 矩陣與信息結構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系統風險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容易遭遇指標異化、信任崩潰或暗箱背叛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具備透明規則、防脆弱冗餘與動態退出機制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長遠產出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在低水準內耗中互相消耗出局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構建正和博弈網絡，享受非線性複利紅利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126480" y="1691640"/>
            <a:ext cx="53336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📊 重複博弈與以牙還牙 傳統舊思維 vs 現代工具模型對比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第 076 講重點   |   PAGE 6/12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A192F"/>
                </a:solidFill>
              </a:defRPr>
            </a:pPr>
            <a:r>
              <a:t>【076 討價還價與外部選項】超越表面局限，調用結構化工具實現高維破局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914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38528"/>
            <a:ext cx="4663440" cy="416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要解決的問題與核心論點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傳統前現代直覺在【討價還價與外部選項】問題上存在嚴重的局部盲區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現代複雜社會的分工與博弈，要求我們跳出單點道德評判，審視底層機制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透過精確的系統模型，將原本不可解的難題轉化為可操作的設計課題</a:t>
            </a:r>
          </a:p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三大關鍵顛覆亮點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關鍵亮點 1：洞悉系統中的非對稱激勵結構，精準定位真實控制權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關鍵亮點 2：避免將制度性問題歸咎於個人品德，靠制度與契約防範道德風險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關鍵亮點 3：在動態多方博弈中建立不可偽造的高價值信號，搶佔合作生態位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26480" y="2057400"/>
          <a:ext cx="5333695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898"/>
                <a:gridCol w="1777898"/>
                <a:gridCol w="1777899"/>
              </a:tblGrid>
              <a:tr h="832104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分析維度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傳統直覺思維 (被動陷入內耗)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現代工具模型 (主動結構破局)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出發視角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站在個人道德與情緒角度評判對錯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站在博弈結構與激勵相容角度審視機制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應對策略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企圖透過說教或壓制改變他人行為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調整反饋回路、改變 payoff 矩陣與信息結構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系統風險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容易遭遇指標異化、信任崩潰或暗箱背叛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具備透明規則、防脆弱冗餘與動態退出機制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長遠產出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在低水準內耗中互相消耗出局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構建正和博弈網絡，享受非線性複利紅利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126480" y="1691640"/>
            <a:ext cx="53336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📊 討價還價與外部選項 傳統舊思維 vs 現代工具模型對比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第 080 講重點   |   PAGE 7/12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A192F"/>
                </a:solidFill>
              </a:defRPr>
            </a:pPr>
            <a:r>
              <a:t>【080 互惠與群體選擇】超越表面局限，調用結構化工具實現高維破局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914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38528"/>
            <a:ext cx="4663440" cy="416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要解決的問題與核心論點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傳統前現代直覺在【互惠與群體選擇】問題上存在嚴重的局部盲區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現代複雜社會的分工與博弈，要求我們跳出單點道德評判，審視底層機制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透過精確的系統模型，將原本不可解的難題轉化為可操作的設計課題</a:t>
            </a:r>
          </a:p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三大關鍵顛覆亮點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關鍵亮點 1：洞悉系統中的非對稱激勵結構，精準定位真實控制權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關鍵亮點 2：避免將制度性問題歸咎於個人品德，靠制度與契約防範道德風險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關鍵亮點 3：在動態多方博弈中建立不可偽造的高價值信號，搶佔合作生態位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26480" y="2057400"/>
          <a:ext cx="5333695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898"/>
                <a:gridCol w="1777898"/>
                <a:gridCol w="1777899"/>
              </a:tblGrid>
              <a:tr h="832104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分析維度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傳統直覺思維 (被動陷入內耗)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現代工具模型 (主動結構破局)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出發視角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站在個人道德與情緒角度評判對錯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站在博弈結構與激勵相容角度審視機制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應對策略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企圖透過說教或壓制改變他人行為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調整反饋回路、改變 payoff 矩陣與信息結構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系統風險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容易遭遇指標異化、信任崩潰或暗箱背叛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具備透明規則、防脆弱冗餘與動態退出機制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長遠產出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在低水準內耗中互相消耗出局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構建正和博弈網絡，享受非線性複利紅利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126480" y="1691640"/>
            <a:ext cx="53336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📊 互惠與群體選擇 傳統舊思維 vs 現代工具模型對比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第 082 講重點   |   PAGE 8/12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A192F"/>
                </a:solidFill>
              </a:defRPr>
            </a:pPr>
            <a:r>
              <a:t>【082 聯盟結構與圈子】超越表面局限，調用結構化工具實現高維破局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914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38528"/>
            <a:ext cx="4663440" cy="416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要解決的問題與核心論點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傳統前現代直覺在【聯盟結構與圈子】問題上存在嚴重的局部盲區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現代複雜社會的分工與博弈，要求我們跳出單點道德評判，審視底層機制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透過精確的系統模型，將原本不可解的難題轉化為可操作的設計課題</a:t>
            </a:r>
          </a:p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三大關鍵顛覆亮點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關鍵亮點 1：洞悉系統中的非對稱激勵結構，精準定位真實控制權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關鍵亮點 2：避免將制度性問題歸咎於個人品德，靠制度與契約防範道德風險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關鍵亮點 3：在動態多方博弈中建立不可偽造的高價值信號，搶佔合作生態位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26480" y="2057400"/>
          <a:ext cx="5333695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898"/>
                <a:gridCol w="1777898"/>
                <a:gridCol w="1777899"/>
              </a:tblGrid>
              <a:tr h="832104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分析維度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傳統直覺思維 (被動陷入內耗)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現代工具模型 (主動結構破局)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出發視角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站在個人道德與情緒角度評判對錯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站在博弈結構與激勵相容角度審視機制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應對策略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企圖透過說教或壓制改變他人行為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調整反饋回路、改變 payoff 矩陣與信息結構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系統風險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容易遭遇指標異化、信任崩潰或暗箱背叛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具備透明規則、防脆弱冗餘與動態退出機制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長遠產出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在低水準內耗中互相消耗出局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構建正和博弈網絡，享受非線性複利紅利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126480" y="1691640"/>
            <a:ext cx="53336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📊 聯盟結構與圈子 傳統舊思維 vs 現代工具模型對比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第 086 講重點   |   PAGE 9/12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A192F"/>
                </a:solidFill>
              </a:defRPr>
            </a:pPr>
            <a:r>
              <a:t>【086 第三物協作】超越表面局限，調用結構化工具實現高維破局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914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38528"/>
            <a:ext cx="4663440" cy="416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要解決的問題與核心論點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傳統前現代直覺在【第三物協作】問題上存在嚴重的局部盲區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現代複雜社會的分工與博弈，要求我們跳出單點道德評判，審視底層機制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透過精確的系統模型，將原本不可解的難題轉化為可操作的設計課題</a:t>
            </a:r>
          </a:p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三大關鍵顛覆亮點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關鍵亮點 1：洞悉系統中的非對稱激勵結構，精準定位真實控制權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關鍵亮點 2：避免將制度性問題歸咎於個人品德，靠制度與契約防範道德風險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關鍵亮點 3：在動態多方博弈中建立不可偽造的高價值信號，搶佔合作生態位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26480" y="2057400"/>
          <a:ext cx="5333695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898"/>
                <a:gridCol w="1777898"/>
                <a:gridCol w="1777899"/>
              </a:tblGrid>
              <a:tr h="832104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分析維度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傳統直覺思維 (被動陷入內耗)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現代工具模型 (主動結構破局)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出發視角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站在個人道德與情緒角度評判對錯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站在博弈結構與激勵相容角度審視機制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應對策略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企圖透過說教或壓制改變他人行為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調整反饋回路、改變 payoff 矩陣與信息結構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系統風險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容易遭遇指標異化、信任崩潰或暗箱背叛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具備透明規則、防脆弱冗餘與動態退出機制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長遠產出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在低水準內耗中互相消耗出局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構建正和博弈網絡，享受非線性複利紅利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126480" y="1691640"/>
            <a:ext cx="53336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📊 第三物協作 傳統舊思維 vs 現代工具模型對比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模組脈絡串聯   |   PAGE 10/12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A192F"/>
                </a:solidFill>
              </a:defRPr>
            </a:pPr>
            <a:r>
              <a:t>【脈絡串聯】參與者各講環環相扣，形成不可逆的論證閉環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914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38528"/>
            <a:ext cx="4663440" cy="416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推演前半程：從破除舊執到建立模型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由第 070 講破除直覺偏誤，直面底層硬客觀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透過第 072～074 講建立量化模型與決策邊界</a:t>
            </a:r>
          </a:p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推演後半程：從策略防護到系統躍遷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在第 076～082 講部署槓桿工具與動態防禦機制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於第 086 講形成高維協同閉環，落實為行為本能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26480" y="2057400"/>
          <a:ext cx="5333695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3423"/>
                <a:gridCol w="1333423"/>
                <a:gridCol w="1333423"/>
                <a:gridCol w="1333426"/>
              </a:tblGrid>
              <a:tr h="832104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推進階段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前一講結論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暴露的新盲區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下一講破局方案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基礎出發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聲望與支配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發現單一要素無法應對多方動態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訊號理論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機制深化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訊號理論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面臨信息不對稱與隱藏行動挑戰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重複博弈與以牙還牙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防護進階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重複博弈與以牙還牙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如何防範系統指標異化與道德風險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討價還價與外部選項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終極閉環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討價還價與外部選項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將認知轉化為可持續演化的穩定生態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第三物協作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126480" y="1691640"/>
            <a:ext cx="53336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📊 參與者 邏輯推進階梯表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模組總結與落地   |   PAGE 11/12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A192F"/>
                </a:solidFill>
              </a:defRPr>
            </a:pPr>
            <a:r>
              <a:t>【精華總結】E06 參與者：四大核心定見與實戰行動指針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914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38528"/>
            <a:ext cx="4663440" cy="416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全模組精華濃縮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1. 破除單點迷思：從【聲望與支配】出發，理解事物的立體多維性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2. 建立精確模型：調用【訊號理論】壓縮資訊，抓住關鍵中介變量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3. 構築防禦邊界：利用【討價還價與外部選項】管理風險，守住可活底線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4. 持續動態演化：在反饋回路中保持敏捷，享受非線性複利紅利</a:t>
            </a:r>
          </a:p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讀完後立刻可應用的 1 件事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🎯 執行【參與者實戰自我檢測】：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• 拿出筆記，依據本頁右側評估表逐項審視自己目前處於『低階被動』還是『高階能動』。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• 針對得分最低的一項，立刻制定一條 If-Then 行動計劃並在 24 小時內啟動！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26480" y="2057400"/>
          <a:ext cx="5333695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3423"/>
                <a:gridCol w="1333423"/>
                <a:gridCol w="1333423"/>
                <a:gridCol w="1333426"/>
              </a:tblGrid>
              <a:tr h="832104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評估維度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低階被動狀態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高階能動狀態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即刻落地行動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思維範式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憑情緒與直覺盲目反應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調用本模組結構化決策模型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先停下30秒，套用本模組框架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機制設計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指望靠道德感化他人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設計激勵相容的規則與信號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重構手頭項目的利益分配機制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風險防護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無視指標異化與代理人問題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部署多維度平衡反饋指標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檢查並修補目前團隊的隱形漏洞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生態演化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封閉死守既有的一畝三分地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主動擁抱外部異質信息與合作者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本週建立一次全新的跨界合作對接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126480" y="1691640"/>
            <a:ext cx="53336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📊 參與者 個人實戰評估與改進矩陣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D97706"/>
                </a:solidFill>
              </a:defRPr>
            </a:pPr>
            <a:r>
              <a:t>附錄 · 深挖指南   |   PAGE 12/12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58368"/>
            <a:ext cx="1072865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A192F"/>
                </a:solidFill>
              </a:defRPr>
            </a:pPr>
            <a:r>
              <a:t>【附錄】E06 參與者 延伸深挖章節與段落標註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572768"/>
            <a:ext cx="10728655" cy="18288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5120640" cy="45720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737360"/>
            <a:ext cx="5120640" cy="91440"/>
          </a:xfrm>
          <a:prstGeom prst="round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38528"/>
            <a:ext cx="4663440" cy="4169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推薦重點深挖講數與段落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第 070 講 聲望與支配：研讀原文推導過程與經典案例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第 074 講 重複博弈與以牙還牙：學習在複雜局勢中提煉因果中介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第 080 講 互惠與群體選擇：檢視防禦機制是否足夠抵禦極端波動</a:t>
            </a:r>
          </a:p>
          <a:p>
            <a:pPr>
              <a:spcAft>
                <a:spcPts val="600"/>
              </a:spcAft>
              <a:defRPr sz="1400" b="1">
                <a:solidFill>
                  <a:srgbClr val="1E3A8A"/>
                </a:solidFill>
              </a:defRPr>
            </a:pPr>
            <a:r>
              <a:t>延伸實踐指南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在日常決策與工作日誌中記錄本模組思維工具的調用記錄</a:t>
            </a:r>
          </a:p>
          <a:p>
            <a:pPr>
              <a:spcAft>
                <a:spcPts val="500"/>
              </a:spcAft>
              <a:defRPr sz="1150">
                <a:solidFill>
                  <a:srgbClr val="1F2937"/>
                </a:solidFill>
              </a:defRPr>
            </a:pPr>
            <a:r>
              <a:t>• 定期與 AI 進行反方辯駁演練，檢視模型邊界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126480" y="2057400"/>
          <a:ext cx="5333695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3423"/>
                <a:gridCol w="1333423"/>
                <a:gridCol w="1333423"/>
                <a:gridCol w="1333426"/>
              </a:tblGrid>
              <a:tr h="832104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講數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核心概念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知識庫對應位置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簡報直達</a:t>
                      </a:r>
                    </a:p>
                  </a:txBody>
                  <a:tcPr>
                    <a:solidFill>
                      <a:srgbClr val="0F2341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第 070 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聲望與支配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首頁 E06 卡片 ➔ 070 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slides.html?slide=070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第 072 講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訊號理論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首頁 E06 卡片 ➔ 072 講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slides.html?slide=072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第 074 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重複博弈與以牙還牙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首頁 E06 卡片 ➔ 074 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slides.html?slide=074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32104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E3A8A"/>
                          </a:solidFill>
                        </a:defRPr>
                      </a:pPr>
                      <a:r>
                        <a:t>第 076 講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討價還價與外部選項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首頁 E06 卡片 ➔ 076 講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1F2937"/>
                          </a:solidFill>
                        </a:defRPr>
                      </a:pPr>
                      <a:r>
                        <a:t>slides.html?slide=076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126480" y="1691640"/>
            <a:ext cx="533369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D97706"/>
                </a:solidFill>
              </a:defRPr>
            </a:pPr>
            <a:r>
              <a:t>📊 E06 知識庫與簡報聯動路標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